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3C3C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F63C3C"/>
            </a:solidFill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M1 Sklearn</c:v>
                </c:pt>
                <c:pt idx="1">
                  <c:v>M2 PyTorch</c:v>
                </c:pt>
                <c:pt idx="2">
                  <c:v>M3 Težinski</c:v>
                </c:pt>
                <c:pt idx="3">
                  <c:v>M4 Regularizovani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0.82</c:v>
                </c:pt>
                <c:pt idx="2">
                  <c:v>0.06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92-4A95-84AA-DCB6D4F3D0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92D050"/>
            </a:solidFill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M1 Sklearn</c:v>
                </c:pt>
                <c:pt idx="1">
                  <c:v>M2 PyTorch</c:v>
                </c:pt>
                <c:pt idx="2">
                  <c:v>M3 Težinski</c:v>
                </c:pt>
                <c:pt idx="3">
                  <c:v>M4 Regularizovani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</c:v>
                </c:pt>
                <c:pt idx="1">
                  <c:v>0.82</c:v>
                </c:pt>
                <c:pt idx="2">
                  <c:v>0.91</c:v>
                </c:pt>
                <c:pt idx="3">
                  <c:v>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92-4A95-84AA-DCB6D4F3D0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M1 Sklearn</c:v>
                </c:pt>
                <c:pt idx="1">
                  <c:v>M2 PyTorch</c:v>
                </c:pt>
                <c:pt idx="2">
                  <c:v>M3 Težinski</c:v>
                </c:pt>
                <c:pt idx="3">
                  <c:v>M4 Regularizovani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0.69</c:v>
                </c:pt>
                <c:pt idx="1">
                  <c:v>0.82</c:v>
                </c:pt>
                <c:pt idx="2">
                  <c:v>0.11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92-4A95-84AA-DCB6D4F3D0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73"/>
                </a:solidFill>
                <a:latin typeface="Arial"/>
              </a:defRPr>
            </a:pPr>
            <a:endParaRPr lang="sr-Latn-R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73"/>
                </a:solidFill>
                <a:latin typeface="Arial"/>
              </a:defRPr>
            </a:pPr>
            <a:endParaRPr lang="sr-Latn-R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sr-Latn-R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5110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japerovic22/credit-card-fraud-detecti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287942"/>
            <a:ext cx="8544776" cy="9756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Credit Card</a:t>
            </a:r>
            <a:r>
              <a:rPr lang="sr-Latn-RS" sz="4800" dirty="0">
                <a:latin typeface="Century Gothic" panose="020B0502020202020204" pitchFamily="34" charset="0"/>
              </a:rPr>
              <a:t> </a:t>
            </a:r>
            <a:r>
              <a:rPr lang="en-US" sz="48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4800" dirty="0">
              <a:latin typeface="Century Gothic" panose="020B0502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5759" y="2039404"/>
            <a:ext cx="841248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Primena veštačkih </a:t>
            </a:r>
            <a:r>
              <a:rPr lang="en-US" dirty="0" err="1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neuronskih</a:t>
            </a:r>
            <a:r>
              <a:rPr lang="en-US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mreža</a:t>
            </a:r>
            <a:r>
              <a:rPr lang="sr-Latn-RS" dirty="0">
                <a:latin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za detekciju finansijskih prevara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56551" y="2722123"/>
            <a:ext cx="7520129" cy="45719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5636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Anja </a:t>
            </a:r>
            <a:r>
              <a:rPr lang="en-US" sz="1300" b="1" dirty="0" err="1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Perović</a:t>
            </a:r>
            <a:r>
              <a:rPr lang="sr-Latn-RS" sz="1300" b="1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2022/0174</a:t>
            </a:r>
            <a:r>
              <a:rPr lang="en-US" sz="1300" b="1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sr-Latn-RS" sz="1300" b="1" dirty="0">
              <a:solidFill>
                <a:srgbClr val="E8F0F6"/>
              </a:solidFill>
              <a:latin typeface="Century Gothic" panose="020B0502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Una </a:t>
            </a:r>
            <a:r>
              <a:rPr lang="en-US" sz="1300" b="1" dirty="0" err="1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Ilić</a:t>
            </a:r>
            <a:r>
              <a:rPr lang="sr-Latn-RS" sz="1300" b="1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2022/0291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65760" y="3886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sr-Latn-RS" sz="11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Duboko učenje i neuronske mreže</a:t>
            </a:r>
            <a:endParaRPr lang="en-US" sz="11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Struktura prezentacije</a:t>
            </a:r>
            <a:endParaRPr lang="en-US" sz="26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r-Latn-RS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Opis problema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sr-Latn-RS" sz="95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en-US" sz="950" dirty="0" err="1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balans</a:t>
            </a:r>
            <a:r>
              <a:rPr lang="en-US" sz="95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klasa i poslovni cilj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93392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665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Podaci &amp; Preprocesiranje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5877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Dataset, PCA varijable, StandardScaler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3026664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26664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99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30098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Arhitektura modela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6210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MLP: 30 → 64 → 32 → 1 (ReLU)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4059936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059936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33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43342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Četiri modela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46542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Sklearn, PyTorch Base, Težinski, Regularizovani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960120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sr-Latn-RS" dirty="0"/>
          </a:p>
        </p:txBody>
      </p:sp>
      <p:sp>
        <p:nvSpPr>
          <p:cNvPr id="25" name="Shape 23"/>
          <p:cNvSpPr/>
          <p:nvPr/>
        </p:nvSpPr>
        <p:spPr>
          <a:xfrm>
            <a:off x="4846320" y="96012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033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83480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Evaluacija &amp; Rezultati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83480" y="15544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Preciznost, Recall, F1-Score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46320" y="1993392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993392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0665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983480" y="2267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Threshold &amp; Osetljivost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83480" y="25877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Optimizacija praga i top obeležja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46320" y="3026664"/>
            <a:ext cx="4206240" cy="9144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026664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099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83480" y="330098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Zaključak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983480" y="36210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Optimalni model za realnu primenu</a:t>
            </a:r>
            <a:endParaRPr lang="en-US" sz="95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01  ·  Opis problema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2560320" cy="219456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23444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0.17%</a:t>
            </a:r>
            <a:endParaRPr lang="en-US" sz="4400" dirty="0">
              <a:latin typeface="Century Gothic" panose="020B0502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prevara u skupu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26334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492 od 284.807</a:t>
            </a:r>
            <a:endParaRPr lang="en-US" sz="1100" dirty="0"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transakcija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46120" y="123444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234440"/>
            <a:ext cx="54864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1325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Ekstreman disbalans klasa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83280" y="1892808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Regularni modeli ignorišu manjinsku klasu i postižu 99%+ tačnosti proglašavanjem svega legitimnim.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166360" y="123444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66360" y="1234440"/>
            <a:ext cx="54864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1325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Varljiva metrika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303520" y="1892808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Accuracy je beskorisna. Fokus mora biti na Precision, Recall i F1-Score za klasu prevara.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086600" y="1234440"/>
            <a:ext cx="1783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086600" y="1234440"/>
            <a:ext cx="54864" cy="2194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23760" y="1325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Poslovni kompromis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223760" y="1892808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Uhvatiti svaku </a:t>
            </a:r>
            <a:r>
              <a:rPr lang="en-US" sz="950" dirty="0" err="1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prevaru</a:t>
            </a:r>
            <a:r>
              <a:rPr lang="en-US" sz="95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95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ili </a:t>
            </a:r>
            <a:r>
              <a:rPr lang="en-US" sz="95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ne blokirati legitimne </a:t>
            </a:r>
            <a:r>
              <a:rPr lang="en-US" sz="950" dirty="0" err="1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korisnike</a:t>
            </a:r>
            <a:r>
              <a:rPr lang="en-US" sz="95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95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dijametralno suprotni ciljevi.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65760" y="3657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Neuronske mreže, zahvaljujući nelinearnim aktivacionim funkcijama, detektuju suptilne anomalije nevidljive linearnim modelima.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02  ·  Podaci &amp; Preprocesiranje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65760" y="1115568"/>
            <a:ext cx="1965960" cy="8686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15568"/>
            <a:ext cx="1965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284.807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1664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transakcija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14600" y="1115568"/>
            <a:ext cx="1965960" cy="8686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115568"/>
            <a:ext cx="1965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460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514600" y="1664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1115568"/>
            <a:ext cx="1965960" cy="8686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115568"/>
            <a:ext cx="1965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63440" y="1664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12280" y="1115568"/>
            <a:ext cx="1965960" cy="8686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12280" y="1115568"/>
            <a:ext cx="1965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12280" y="1188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492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812280" y="1664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prevara (Class=1)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156782"/>
              </p:ext>
            </p:extLst>
          </p:nvPr>
        </p:nvGraphicFramePr>
        <p:xfrm>
          <a:off x="365760" y="2103120"/>
          <a:ext cx="841248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Atribut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Opis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V1 – V28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Float (PCA)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Anonimizovane karakteristike transakcije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Sekunde od prve transakcije u skupu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Iznos transakcije u eurima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0 / 1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Ciljna promenljiva: 0 = regularna, 1 = prevara</a:t>
                      </a:r>
                      <a:endParaRPr lang="en-US" sz="11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65760" y="370332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" y="3749040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Preprocesiranje: StandardScaler primenjen samo na Time i Amount (V1–V28 su već skalirani PCA-om). Scaler je fitovan isključivo na trening skupu kako bi se izbeglo curenje informacija (data leakage).</a:t>
            </a:r>
            <a:endParaRPr lang="en-US" sz="105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03  ·  Arhitektura </a:t>
            </a:r>
            <a:r>
              <a:rPr lang="en-US" sz="2400" b="1" dirty="0" err="1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modela</a:t>
            </a:r>
            <a:r>
              <a:rPr lang="en-US" sz="2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2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2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MLP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005F78"/>
          </a:solidFill>
          <a:ln w="12700">
            <a:solidFill>
              <a:srgbClr val="005F7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886968"/>
            <a:ext cx="384048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325880"/>
            <a:ext cx="384048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2203704"/>
            <a:ext cx="384048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2642616"/>
            <a:ext cx="384048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0815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DC4"/>
                </a:solidFill>
              </a:rPr>
              <a:t>·  ·  ·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3520440"/>
            <a:ext cx="384048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" y="2377440"/>
            <a:ext cx="1399032" cy="27432"/>
          </a:xfrm>
          <a:prstGeom prst="rect">
            <a:avLst/>
          </a:prstGeom>
          <a:solidFill>
            <a:srgbClr val="005F78"/>
          </a:solidFill>
          <a:ln w="12700">
            <a:solidFill>
              <a:srgbClr val="005F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9012" y="21762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74320" y="2633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V28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1440" y="38587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Ulazni sloj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80286" y="4125208"/>
            <a:ext cx="5979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30 obeležja</a:t>
            </a:r>
            <a:endParaRPr lang="en-US" sz="800" dirty="0"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(V1–V28</a:t>
            </a:r>
            <a:r>
              <a:rPr lang="sr-Latn-R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sr-Latn-R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Time</a:t>
            </a:r>
            <a:r>
              <a:rPr lang="sr-Latn-R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+Amount)</a:t>
            </a:r>
            <a:endParaRPr lang="en-US" sz="800" dirty="0">
              <a:latin typeface="Century Gothic" panose="020B0502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148840" y="886968"/>
            <a:ext cx="384048" cy="34747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48840" y="1325880"/>
            <a:ext cx="384048" cy="34747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148840" y="1764792"/>
            <a:ext cx="384048" cy="34747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48840" y="2203704"/>
            <a:ext cx="384048" cy="34747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48840" y="2642616"/>
            <a:ext cx="384048" cy="34747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48840" y="30815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DC4"/>
                </a:solidFill>
              </a:rPr>
              <a:t>·  ·  ·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148840" y="3520440"/>
            <a:ext cx="384048" cy="347472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578608" y="2377440"/>
            <a:ext cx="1399032" cy="27432"/>
          </a:xfrm>
          <a:prstGeom prst="rect">
            <a:avLst/>
          </a:prstGeom>
          <a:solidFill>
            <a:srgbClr val="005F78"/>
          </a:solidFill>
          <a:ln w="12700">
            <a:solidFill>
              <a:srgbClr val="005F7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13532" y="21762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148840" y="22037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965960" y="38587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361EE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Skriveni sloj 1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920240" y="411480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64 neurona</a:t>
            </a:r>
            <a:endParaRPr lang="en-US" sz="800" dirty="0"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ReLU aktivacija</a:t>
            </a:r>
            <a:endParaRPr lang="en-US" sz="800" dirty="0">
              <a:latin typeface="Century Gothic" panose="020B05020202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023360" y="886968"/>
            <a:ext cx="384048" cy="347472"/>
          </a:xfrm>
          <a:prstGeom prst="ellipse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23360" y="1325880"/>
            <a:ext cx="384048" cy="347472"/>
          </a:xfrm>
          <a:prstGeom prst="ellipse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023360" y="1764792"/>
            <a:ext cx="384048" cy="347472"/>
          </a:xfrm>
          <a:prstGeom prst="ellipse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023360" y="2203704"/>
            <a:ext cx="384048" cy="347472"/>
          </a:xfrm>
          <a:prstGeom prst="ellipse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023360" y="2642616"/>
            <a:ext cx="384048" cy="347472"/>
          </a:xfrm>
          <a:prstGeom prst="ellipse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023360" y="30815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DC4"/>
                </a:solidFill>
              </a:rPr>
              <a:t>·  ·  ·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023360" y="3520440"/>
            <a:ext cx="384048" cy="347472"/>
          </a:xfrm>
          <a:prstGeom prst="ellipse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453128" y="2377440"/>
            <a:ext cx="1399032" cy="27432"/>
          </a:xfrm>
          <a:prstGeom prst="rect">
            <a:avLst/>
          </a:prstGeom>
          <a:solidFill>
            <a:srgbClr val="005F78"/>
          </a:solidFill>
          <a:ln w="12700">
            <a:solidFill>
              <a:srgbClr val="005F7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88052" y="21762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023360" y="22037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840479" y="3858768"/>
            <a:ext cx="8412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209B7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Skriveni sloj 2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3794760" y="411480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32 neurona</a:t>
            </a:r>
            <a:endParaRPr lang="en-US" sz="800" dirty="0"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ReLU aktivacija</a:t>
            </a:r>
            <a:endParaRPr lang="en-US" sz="800" dirty="0">
              <a:latin typeface="Century Gothic" panose="020B050202020202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5897880" y="2203704"/>
            <a:ext cx="384048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897880" y="22037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715000" y="38587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Izlazni sloj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669280" y="4114800"/>
            <a:ext cx="84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1 neuron</a:t>
            </a:r>
            <a:endParaRPr lang="en-US" sz="800" dirty="0"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Sigmoid → P(prevara)</a:t>
            </a:r>
            <a:endParaRPr lang="en-US" sz="800" dirty="0">
              <a:latin typeface="Century Gothic" panose="020B050202020202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6537960" y="960120"/>
            <a:ext cx="2468880" cy="365760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537960" y="960120"/>
            <a:ext cx="2468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62940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Konfiguracija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662940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Aktivacija: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749808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ReLU (skriveni)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6629400" y="18653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Izlaz: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7498080" y="1865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Sigmoid (P prevare)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6629400" y="22677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7498080" y="2267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BCEWithLogitsLoss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6629400" y="2670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749808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6629400" y="30723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Stopa učenja: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7498080" y="30723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6629400" y="3474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749808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1.024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6629400" y="38770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Epohe: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7498080" y="3877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6629400" y="4279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Seed: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7498080" y="4279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6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42 (ponovljivost)</a:t>
            </a:r>
            <a:endParaRPr lang="en-US" sz="950" dirty="0">
              <a:latin typeface="Century Gothic" panose="020B0502020202020204" pitchFamily="34" charset="0"/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5B08A58A-F2A7-1B18-CB3F-F280DC02A84E}"/>
              </a:ext>
            </a:extLst>
          </p:cNvPr>
          <p:cNvSpPr/>
          <p:nvPr/>
        </p:nvSpPr>
        <p:spPr>
          <a:xfrm>
            <a:off x="283464" y="220993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V27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3623AA6C-8BB2-9837-FE2D-60FFD394EE6F}"/>
              </a:ext>
            </a:extLst>
          </p:cNvPr>
          <p:cNvSpPr/>
          <p:nvPr/>
        </p:nvSpPr>
        <p:spPr>
          <a:xfrm>
            <a:off x="283464" y="1767905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DC4"/>
                </a:solidFill>
              </a:rPr>
              <a:t>·  ·  ·</a:t>
            </a:r>
            <a:endParaRPr lang="en-US" sz="1300" dirty="0"/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88C2E0E5-57C9-F25B-3B60-33D487A7690A}"/>
              </a:ext>
            </a:extLst>
          </p:cNvPr>
          <p:cNvSpPr/>
          <p:nvPr/>
        </p:nvSpPr>
        <p:spPr>
          <a:xfrm>
            <a:off x="279508" y="131051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A2DAC3E1-2789-0699-40CB-4C0CB9FA8388}"/>
              </a:ext>
            </a:extLst>
          </p:cNvPr>
          <p:cNvSpPr/>
          <p:nvPr/>
        </p:nvSpPr>
        <p:spPr>
          <a:xfrm>
            <a:off x="290322" y="8778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D48CDB14-DF00-F153-D155-269B70DC5D18}"/>
              </a:ext>
            </a:extLst>
          </p:cNvPr>
          <p:cNvSpPr/>
          <p:nvPr/>
        </p:nvSpPr>
        <p:spPr>
          <a:xfrm>
            <a:off x="274239" y="350507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700" b="1" dirty="0">
                <a:solidFill>
                  <a:srgbClr val="FFFFFF"/>
                </a:solidFill>
                <a:latin typeface="Century Gothic" panose="020B0502020202020204" pitchFamily="34" charset="0"/>
                <a:cs typeface="Calibri" pitchFamily="34" charset="-120"/>
              </a:rPr>
              <a:t>Amount_Scaled</a:t>
            </a:r>
            <a:endParaRPr lang="en-US" sz="7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04  ·  Četiri eksperimentalne konfiguracije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2057400" cy="73152"/>
          </a:xfrm>
          <a:prstGeom prst="rect">
            <a:avLst/>
          </a:prstGeom>
          <a:solidFill>
            <a:srgbClr val="203864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35024"/>
            <a:ext cx="457200" cy="256032"/>
          </a:xfrm>
          <a:prstGeom prst="rect">
            <a:avLst/>
          </a:prstGeom>
          <a:solidFill>
            <a:srgbClr val="203864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350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9768" y="16733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Sklearn Baseline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9768" y="20665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MLPClassifier</a:t>
            </a:r>
            <a:endParaRPr lang="en-US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9768" y="2386584"/>
            <a:ext cx="1801368" cy="1828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4688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Brz baseline bez eksplicitne trening petlje. Automatski early stopping.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9768" y="4050792"/>
            <a:ext cx="1801368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sr-Latn-RS" dirty="0"/>
          </a:p>
        </p:txBody>
      </p:sp>
      <p:sp>
        <p:nvSpPr>
          <p:cNvPr id="14" name="Text 12"/>
          <p:cNvSpPr/>
          <p:nvPr/>
        </p:nvSpPr>
        <p:spPr>
          <a:xfrm>
            <a:off x="475488" y="4096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28 iteracija · Adam · max_iter=1000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496312" y="1170432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96312" y="1170432"/>
            <a:ext cx="2057400" cy="73152"/>
          </a:xfrm>
          <a:prstGeom prst="rect">
            <a:avLst/>
          </a:prstGeom>
          <a:solidFill>
            <a:srgbClr val="7030A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33472" y="1335024"/>
            <a:ext cx="457200" cy="256032"/>
          </a:xfrm>
          <a:prstGeom prst="rect">
            <a:avLst/>
          </a:prstGeom>
          <a:solidFill>
            <a:srgbClr val="7030A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13350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06040" y="16733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PyTorch Base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606040" y="20665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30A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Osnovna PyTorch petlja</a:t>
            </a:r>
            <a:endParaRPr lang="en-US" sz="900" dirty="0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606040" y="2386584"/>
            <a:ext cx="1801368" cy="1828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24688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Ista arhitektura u PyTorch-u. Puna kontrola nad forward/backward pass-om.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606040" y="4050792"/>
            <a:ext cx="1801368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4096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20 epoha · BCEWithLogitsLoss · Adam</a:t>
            </a:r>
            <a:endParaRPr lang="en-US" sz="900" dirty="0">
              <a:latin typeface="Century Gothic" panose="020B0502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72584" y="1170432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72584" y="1170432"/>
            <a:ext cx="2057400" cy="73152"/>
          </a:xfrm>
          <a:prstGeom prst="rect">
            <a:avLst/>
          </a:prstGeom>
          <a:solidFill>
            <a:srgbClr val="FF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9744" y="1335024"/>
            <a:ext cx="457200" cy="256032"/>
          </a:xfrm>
          <a:prstGeom prst="rect">
            <a:avLst/>
          </a:prstGeom>
          <a:solidFill>
            <a:srgbClr val="FF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13350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82312" y="16733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Težinski model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82312" y="20665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000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pos_weight = 578</a:t>
            </a:r>
            <a:endParaRPr lang="en-US" sz="900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82312" y="2386584"/>
            <a:ext cx="1801368" cy="1828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24688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Funkcija greške penalizuje propuštene prevare 578× jače od lažnih uzbuna.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82312" y="4050792"/>
            <a:ext cx="1801368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4096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pos_weight = N_neg / N_pos ≈ 578</a:t>
            </a:r>
            <a:endParaRPr lang="en-US" sz="800" dirty="0">
              <a:latin typeface="Century Gothic" panose="020B0502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848856" y="1170432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48856" y="1170432"/>
            <a:ext cx="2057400" cy="73152"/>
          </a:xfrm>
          <a:prstGeom prst="rect">
            <a:avLst/>
          </a:prstGeom>
          <a:solidFill>
            <a:srgbClr val="00B05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86016" y="1335024"/>
            <a:ext cx="457200" cy="256032"/>
          </a:xfrm>
          <a:prstGeom prst="rect">
            <a:avLst/>
          </a:prstGeom>
          <a:solidFill>
            <a:srgbClr val="00B05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86016" y="13350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958584" y="16733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Regularizovani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58584" y="20665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05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Dropout + L2</a:t>
            </a:r>
            <a:endParaRPr lang="en-US" sz="900" dirty="0">
              <a:solidFill>
                <a:srgbClr val="00B050"/>
              </a:solidFill>
              <a:latin typeface="Century Gothic" panose="020B0502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958584" y="2386584"/>
            <a:ext cx="1801368" cy="1828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58584" y="246888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Dodaje Dropout(0.2) i L2 regularizaciju kako bi se smanjio overfitting.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958584" y="4050792"/>
            <a:ext cx="1801368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04304" y="4096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Dropout p=0.2 · weight_decay=1e-4</a:t>
            </a:r>
            <a:endParaRPr lang="en-US" sz="9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AutoNum type="arabicPlain" startAt="5"/>
            </a:pPr>
            <a:r>
              <a:rPr lang="en-US" sz="2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·  Rezultati </a:t>
            </a:r>
            <a:r>
              <a:rPr lang="en-US" sz="2400" b="1" dirty="0" err="1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evaluacije</a:t>
            </a:r>
            <a:r>
              <a:rPr lang="en-US" sz="2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2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2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klasa prevara (1)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834909182"/>
              </p:ext>
            </p:extLst>
          </p:nvPr>
        </p:nvGraphicFramePr>
        <p:xfrm>
          <a:off x="320040" y="109728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076276"/>
              </p:ext>
            </p:extLst>
          </p:nvPr>
        </p:nvGraphicFramePr>
        <p:xfrm>
          <a:off x="5852160" y="1097280"/>
          <a:ext cx="301752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M1 Sklearn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5A73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M2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r>
                        <a:rPr lang="sr-Latn-RS" sz="1000" b="1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 Base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 ★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4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4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4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M3 Težinski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M4 Regularizovani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entury Gothic" panose="020B0502020202020204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00" dirty="0">
                        <a:latin typeface="Century Gothic" panose="020B0502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852160" y="2907792"/>
            <a:ext cx="3017520" cy="15544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5852160" y="2907792"/>
            <a:ext cx="30175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063240"/>
            <a:ext cx="384048" cy="3840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92240" y="3044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Model 2 </a:t>
            </a:r>
            <a:r>
              <a:rPr lang="sr-Latn-R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Pobednik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5989320" y="3429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Jedini model sa balansiranim</a:t>
            </a:r>
            <a:endParaRPr lang="en-US" sz="105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Precision = Recall = F1 = 0.82</a:t>
            </a:r>
            <a:endParaRPr lang="en-US" sz="105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Samo 17 lažnih uzbuna</a:t>
            </a:r>
            <a:endParaRPr lang="en-US" sz="105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06  ·  Threshold analiza &amp; Analiza osetljivosti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1417320"/>
          </a:xfrm>
          <a:prstGeom prst="rect">
            <a:avLst/>
          </a:prstGeom>
          <a:solidFill>
            <a:srgbClr val="FF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Threshold analiza — Model 3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Ispitani pragovi: 0.1 → 0.9 (korak 0.05)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Optimalni prag: 0.85  </a:t>
            </a:r>
            <a:endParaRPr lang="sr-Latn-RS" sz="1050" b="1" dirty="0">
              <a:solidFill>
                <a:srgbClr val="1A2F4A"/>
              </a:solidFill>
              <a:latin typeface="Century Gothic" panose="020B0502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F1 = 0.256  |  Precision = 0.15  |  Recall = 0.878</a:t>
            </a:r>
            <a:endParaRPr lang="en-US" sz="1050" dirty="0">
              <a:latin typeface="Century Gothic" panose="020B0502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2651760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651760"/>
            <a:ext cx="54864" cy="1417320"/>
          </a:xfrm>
          <a:prstGeom prst="rect">
            <a:avLst/>
          </a:prstGeom>
          <a:solidFill>
            <a:srgbClr val="FFC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Zaključak threshold analize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Ni pri optimalnom pragu preciznost ne prelazi 0.15. Problem je strukturalan — pos_weight previše pomera granicu odlučivanja. Threshold tuning nije rešenje.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44819" y="1115568"/>
            <a:ext cx="4047467" cy="31389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115568"/>
            <a:ext cx="45719" cy="313893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Analiza osetljivosti — Model 2</a:t>
            </a:r>
            <a:endParaRPr lang="en-US" sz="1300" dirty="0">
              <a:latin typeface="Century Gothic" panose="020B0502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Top 5 obeležja po apsolutnom gradijentu: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0" y="19019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69280" y="1947672"/>
            <a:ext cx="2793076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53796" y="19019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23042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V14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69280" y="2324100"/>
            <a:ext cx="2527069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sr-Latn-RS" dirty="0"/>
          </a:p>
        </p:txBody>
      </p:sp>
      <p:sp>
        <p:nvSpPr>
          <p:cNvPr id="23" name="Text 21"/>
          <p:cNvSpPr/>
          <p:nvPr/>
        </p:nvSpPr>
        <p:spPr>
          <a:xfrm>
            <a:off x="8287789" y="23042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0.00095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70662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0" y="2746248"/>
            <a:ext cx="21812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1980" y="27066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0.00082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3108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V27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669280" y="3147822"/>
            <a:ext cx="2101457" cy="2377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2177" y="31089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0.00079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351129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669280" y="3557016"/>
            <a:ext cx="1729047" cy="2377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89767" y="351129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0.00065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38999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★  Amount (3. mesto) — jedina interpretabilna varijabla. Prevare imaju neobične iznose.</a:t>
            </a:r>
            <a:endParaRPr lang="en-US" sz="95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07  ·  Diskusija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527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52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Model 2 je optimalan izbor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170992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Uniformni 0.82 za sve metrike. Gradi odluku na više </a:t>
            </a:r>
            <a:r>
              <a:rPr lang="en-US" sz="1000" dirty="0" err="1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obeležja</a:t>
            </a: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r-Latn-R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robustan na šum. Samo 17 lažnih uzbuna na 56.864 regularnih transakcija.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0040" y="303580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3035808"/>
            <a:ext cx="54864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7296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Zamka agresivnog balansiranja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57200" y="363016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pos_weight ≈ 578 preagresivno pomera granicu. Model 3 i Model 4 klasifikuju gotovo sve kao prevaru. Threshold tuning ne pomaže.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754880" y="111556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115568"/>
            <a:ext cx="54864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5272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1252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Interpretabilnost je ograničena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892040" y="170992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V1–V28 su anonimizovani PCA-om. Jedini direktno tumačiv signal je Amount — pojavljuje se na 3. mestu u analizi osetljivosti.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754880" y="303580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035808"/>
            <a:ext cx="54864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7296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A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Moguća unapređenja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892040" y="3555746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SMOTE za sintetičke </a:t>
            </a:r>
            <a:r>
              <a:rPr lang="en-US" sz="1000" dirty="0" err="1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uzorke</a:t>
            </a: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prevara</a:t>
            </a:r>
            <a:endParaRPr lang="sr-Latn-RS" sz="1000" dirty="0">
              <a:solidFill>
                <a:srgbClr val="3D5A73"/>
              </a:solidFill>
              <a:latin typeface="Century Gothic" panose="020B0502020202020204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Validacioni</a:t>
            </a: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skup </a:t>
            </a:r>
            <a:r>
              <a:rPr lang="en-US" sz="1000" dirty="0" err="1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tokom</a:t>
            </a: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treninga</a:t>
            </a:r>
            <a:endParaRPr lang="sr-Latn-RS" sz="1000" dirty="0">
              <a:solidFill>
                <a:srgbClr val="3D5A73"/>
              </a:solidFill>
              <a:latin typeface="Century Gothic" panose="020B0502020202020204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D5A73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LSTM arhitektura za temporalnu strukturu (varijabla Time)</a:t>
            </a:r>
            <a:endParaRPr lang="en-US" sz="10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08  ·  Zaključak</a:t>
            </a:r>
            <a:endParaRPr lang="en-US" sz="2600" dirty="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005F78"/>
          </a:solidFill>
          <a:ln w="12700">
            <a:solidFill>
              <a:srgbClr val="005F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8503920" cy="1325880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8503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058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Model 2 </a:t>
            </a:r>
            <a:r>
              <a:rPr lang="sr-Latn-RS" sz="15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5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Osnovni PyTorch MLP </a:t>
            </a:r>
            <a:r>
              <a:rPr lang="sr-Latn-RS" sz="15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500" b="1" dirty="0" err="1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optimalan</a:t>
            </a:r>
            <a:r>
              <a:rPr lang="en-US" sz="15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izbor</a:t>
            </a:r>
            <a:r>
              <a:rPr lang="sr-Latn-RS" sz="1500" b="1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>
              <a:latin typeface="Century Gothic" panose="020B0502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43000" y="144475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Precision = Recall = F1 = 0.82 </a:t>
            </a:r>
            <a:endParaRPr lang="sr-Latn-RS" sz="1100" dirty="0">
              <a:solidFill>
                <a:srgbClr val="8BADC4"/>
              </a:solidFill>
              <a:latin typeface="Century Gothic" panose="020B0502020202020204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Samo</a:t>
            </a:r>
            <a:r>
              <a:rPr lang="en-US" sz="11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17 lažnih </a:t>
            </a:r>
            <a:r>
              <a:rPr lang="en-US" sz="1100" dirty="0" err="1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uzbuna</a:t>
            </a:r>
            <a:r>
              <a:rPr lang="en-US" sz="11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sr-Latn-RS" sz="1100" dirty="0">
              <a:solidFill>
                <a:srgbClr val="8BADC4"/>
              </a:solidFill>
              <a:latin typeface="Century Gothic" panose="020B0502020202020204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Uravnotežena</a:t>
            </a:r>
            <a:r>
              <a:rPr lang="en-US" sz="11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raspodela osetljivosti na više obeležja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0040" y="2377440"/>
            <a:ext cx="8503920" cy="749808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377440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5603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1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87552" y="24231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Sofisticiranije ≠ bolje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87552" y="276148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U domenima s ekstremnim disbalansom, minimalistički stabilan model (M2) bio je superiorniji od M3 i M4 sa eksplicitnim balansiranjem.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" y="3246120"/>
            <a:ext cx="8503920" cy="749808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246120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" y="32918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Accuracy je varljiva metrika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87552" y="36301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Svi modeli postižu ~100% Accuracy. Jedine relevantne metrike su Precision, Recall i F1 za klasu prevare.</a:t>
            </a:r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4114800"/>
            <a:ext cx="8503920" cy="749808"/>
          </a:xfrm>
          <a:prstGeom prst="rect">
            <a:avLst/>
          </a:prstGeom>
          <a:solidFill>
            <a:srgbClr val="162640"/>
          </a:solidFill>
          <a:ln w="12700">
            <a:solidFill>
              <a:srgbClr val="005F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" y="4114800"/>
            <a:ext cx="54864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429768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3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87552" y="4160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Prava primenjivost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87552" y="44988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DC4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P=0.82, R=0.82 → model hvata 8 od 10 prevara, uz svega 17 lažnih uzbuna od 56.864 legitimnih transakcija.</a:t>
            </a:r>
            <a:endParaRPr lang="en-US" sz="10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Hvala na pažnji!</a:t>
            </a:r>
            <a:endParaRPr lang="en-US" sz="4000" dirty="0">
              <a:latin typeface="Century Gothic" panose="020B0502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200400" y="2816352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>
            <a:hlinkClick r:id="rId3"/>
          </p:cNvPr>
          <p:cNvSpPr/>
          <p:nvPr/>
        </p:nvSpPr>
        <p:spPr>
          <a:xfrm>
            <a:off x="457200" y="29352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u="sng" dirty="0">
                <a:solidFill>
                  <a:srgbClr val="00B4D8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github.com/anjaperovic22/credit-card-fraud-detection</a:t>
            </a:r>
            <a:endParaRPr lang="en-US" sz="11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895</Words>
  <Application>Microsoft Office PowerPoint</Application>
  <PresentationFormat>On-screen Show (16:9)</PresentationFormat>
  <Paragraphs>213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— ANN</dc:title>
  <dc:subject>PptxGenJS Presentation</dc:subject>
  <dc:creator>PptxGenJS</dc:creator>
  <cp:lastModifiedBy>Anja</cp:lastModifiedBy>
  <cp:revision>2</cp:revision>
  <dcterms:created xsi:type="dcterms:W3CDTF">2026-05-24T11:36:33Z</dcterms:created>
  <dcterms:modified xsi:type="dcterms:W3CDTF">2026-05-24T12:06:37Z</dcterms:modified>
</cp:coreProperties>
</file>